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oppins Light"/>
      <p:regular r:id="rId201314"/>
    </p:embeddedFont>
    <p:embeddedFont>
      <p:font typeface="Poppins SemiBold"/>
      <p:regular r:id="rId201315"/>
    </p:embeddedFont>
    <p:embeddedFont>
      <p:font typeface="Poppins Black"/>
      <p:regular r:id="rId201316"/>
    </p:embeddedFont>
    <p:embeddedFont>
      <p:font typeface="Poppins"/>
      <p:regular r:id="rId201317"/>
    </p:embeddedFont>
    <p:embeddedFont>
      <p:font typeface="Roboto Light"/>
      <p:regular r:id="rId201318"/>
    </p:embeddedFont>
    <p:embeddedFont>
      <p:font typeface="Roboto"/>
      <p:regular r:id="rId201319"/>
    </p:embeddedFont>
    <p:embeddedFont>
      <p:font typeface="Roboto SemiBold"/>
      <p:regular r:id="rId201320"/>
    </p:embeddedFont>
    <p:embeddedFont>
      <p:font typeface="Robot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4.png"/><Relationship Id="rId9" Type="http://schemas.openxmlformats.org/officeDocument/2006/relationships/image" Target="../media/image-2-5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24608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HR Analytics: Predicting Job Change of Data Scientists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093641"/>
            <a:ext cx="629686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Using Supervised Machine Learning for Early Retention &amp; Training Optimization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67659"/>
            <a:ext cx="6296860" cy="1644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Project By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Youssef Moataz, Mariam Mohamed, Zyad Mahgoub, Abdullah Hany, Reem Ahmed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Domain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Human Resources &amp; Machine Learning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Objective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Predict whether a enrolled trainee will look for a new job vs. remain with the company.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09811"/>
            <a:ext cx="6296860" cy="996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Business Problem &amp; Executive Summary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661475" y="1760339"/>
            <a:ext cx="6296860" cy="398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Minimizing Sunk Costs in Talent Training</a:t>
            </a:r>
            <a:endParaRPr lang="en-US" sz="2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60811"/>
            <a:ext cx="6296860" cy="12041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6163" y="2539305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Challenge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916163" y="2869109"/>
            <a:ext cx="5863681" cy="517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Training Big Data candidates requires significant time and financial resources.</a:t>
            </a:r>
            <a:endParaRPr lang="en-US" sz="1250" dirty="0"/>
          </a:p>
          <a:p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Trainees leaving post-training represent a direct 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sunk cost</a:t>
            </a:r>
            <a:pPr algn="l" marL="254000" indent="-254000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99470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6163" y="3877965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Solution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916163" y="4207768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binary classification model (</a:t>
            </a:r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     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job seekers, </a:t>
            </a:r>
            <a:pPr algn="l" indent="0" marL="0">
              <a:lnSpc>
                <a:spcPct val="123000"/>
              </a:lnSpc>
              <a:buNone/>
            </a:pPr>
            <a:r>
              <a:rPr lang="en-US" sz="12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     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stayers) built using enrollment demographics and experience.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9527" y="4239518"/>
            <a:ext cx="707809" cy="193377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2866" y="4239518"/>
            <a:ext cx="707809" cy="193377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4991100"/>
            <a:ext cx="6296860" cy="115708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16163" y="5169595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Outcome</a:t>
            </a:r>
            <a:endParaRPr lang="en-US" sz="1550" dirty="0"/>
          </a:p>
        </p:txBody>
      </p:sp>
      <p:sp>
        <p:nvSpPr>
          <p:cNvPr id="15" name="Text 7"/>
          <p:cNvSpPr/>
          <p:nvPr/>
        </p:nvSpPr>
        <p:spPr>
          <a:xfrm>
            <a:off x="916163" y="5499398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Maximize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Recall on positive class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(flagging likely job-changers early) while maintaining high overall </a:t>
            </a:r>
            <a:pPr algn="l" indent="0" marL="0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ROC-AUC</a:t>
            </a:r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to optimize retention strategies.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82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028303"/>
            <a:ext cx="10868745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Demographics &amp; Trainee Profiles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1612999"/>
            <a:ext cx="53678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19,158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61475" y="2231330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Training Rows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62223" y="1612999"/>
            <a:ext cx="5367997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2,129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6162223" y="2231330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Held-out Test Rows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1475" y="2736255"/>
            <a:ext cx="53678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~25%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661475" y="3354586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Positive Class (Job-Seekers)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62223" y="2736255"/>
            <a:ext cx="5367997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12</a:t>
            </a:r>
            <a:endParaRPr lang="en-US" sz="3650" dirty="0"/>
          </a:p>
        </p:txBody>
      </p:sp>
      <p:sp>
        <p:nvSpPr>
          <p:cNvPr id="11" name="Text 9"/>
          <p:cNvSpPr/>
          <p:nvPr/>
        </p:nvSpPr>
        <p:spPr>
          <a:xfrm>
            <a:off x="6162223" y="3354586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Features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1475" y="3695601"/>
            <a:ext cx="10868745" cy="83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Dataset Size</a:t>
            </a:r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19,158 Training Rows | 2,129 Held-out Test Rows</a:t>
            </a:r>
            <a:endParaRPr lang="en-US" sz="1100" dirty="0"/>
          </a:p>
          <a:p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 Imbalance</a:t>
            </a:r>
            <a:pPr algn="l" indent="0" marL="0">
              <a:lnSpc>
                <a:spcPct val="11700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~25% Positive Class (Job-Seekers)</a:t>
            </a:r>
            <a:endParaRPr lang="en-US" sz="11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Features (12 Total)</a:t>
            </a:r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1475" y="4649589"/>
            <a:ext cx="5381193" cy="779661"/>
          </a:xfrm>
          <a:prstGeom prst="roundRect">
            <a:avLst>
              <a:gd name="adj" fmla="val 76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506" y="4797623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9506" y="5082778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Gender, City, City Development Index (CDI)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48928" y="4649589"/>
            <a:ext cx="5381292" cy="779661"/>
          </a:xfrm>
          <a:prstGeom prst="roundRect">
            <a:avLst>
              <a:gd name="adj" fmla="val 76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6959" y="4797623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96959" y="5082778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Education Level, Major Discipline, Enrolled University Status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1475" y="5535513"/>
            <a:ext cx="5381193" cy="779661"/>
          </a:xfrm>
          <a:prstGeom prst="roundRect">
            <a:avLst>
              <a:gd name="adj" fmla="val 76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506" y="5683548"/>
            <a:ext cx="50851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Work Profile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09506" y="5968702"/>
            <a:ext cx="50851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Experience, Relevant Experience, Company Size, Company Type, Last New Job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48928" y="5535513"/>
            <a:ext cx="5381292" cy="779661"/>
          </a:xfrm>
          <a:prstGeom prst="roundRect">
            <a:avLst>
              <a:gd name="adj" fmla="val 763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6959" y="5683548"/>
            <a:ext cx="50852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Engagement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96959" y="5968702"/>
            <a:ext cx="508523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Total Training Hours Completed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33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Missing Data Strategy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222474"/>
            <a:ext cx="108687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Treating Missingness as an Informative Signal</a:t>
            </a:r>
            <a:endParaRPr lang="en-US" sz="28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46176"/>
          <a:ext cx="9143771" cy="914400"/>
        </p:xfrm>
        <a:graphic>
          <a:graphicData uri="http://schemas.openxmlformats.org/drawingml/2006/table">
            <a:tbl>
              <a:tblPr/>
              <a:tblGrid>
                <a:gridCol w="3260624"/>
                <a:gridCol w="2173749"/>
                <a:gridCol w="5434373"/>
              </a:tblGrid>
              <a:tr h="517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Feature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Missing %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Imputation Strategy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company_type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32.05%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 "Missing" Category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company_size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30.99%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 "Missing" Category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gender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23.53%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 "Missing" Category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52019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major_discipline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14.68%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Explicit "Missing" Category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517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education_level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2.40%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Ordinal Encoding / Imputed</a:t>
                      </a:r>
                      <a:endParaRPr lang="en-US" sz="14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3112" marR="183112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5273278"/>
            <a:ext cx="10868745" cy="1005284"/>
          </a:xfrm>
          <a:prstGeom prst="roundRect">
            <a:avLst>
              <a:gd name="adj" fmla="val 7650"/>
            </a:avLst>
          </a:prstGeom>
          <a:solidFill>
            <a:srgbClr val="3D3D4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529" y="5526584"/>
            <a:ext cx="228793" cy="1830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6376" y="5496322"/>
            <a:ext cx="10090791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Insight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Missingness is non-random (MNAR). Candidates with missing company size/type showed a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40% job-change rate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vs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18%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when present. Preserving missingness as a category directly boosted predictive performance.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5623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Preprocessing Pipeline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61475" y="131574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Preventing Data Leakage via Scikit-Learn ColumnTransformer</a:t>
            </a:r>
            <a:endParaRPr lang="en-US" sz="2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07890"/>
            <a:ext cx="3512157" cy="4154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4653" y="212348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857725" y="2724646"/>
            <a:ext cx="31196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Numerical Features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57725" y="3101181"/>
            <a:ext cx="3119657" cy="1431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training_hours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Log-transformed (to reduce right skew), median-imputed, scaled.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city_development_index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Median-imputed, scaled.</a:t>
            </a:r>
            <a:endParaRPr lang="en-US" sz="13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720" y="2007890"/>
            <a:ext cx="3512157" cy="4154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62898" y="212348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2050" dirty="0"/>
          </a:p>
        </p:txBody>
      </p:sp>
      <p:sp>
        <p:nvSpPr>
          <p:cNvPr id="10" name="Text 6"/>
          <p:cNvSpPr/>
          <p:nvPr/>
        </p:nvSpPr>
        <p:spPr>
          <a:xfrm>
            <a:off x="4535969" y="2724646"/>
            <a:ext cx="3119657" cy="5538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Categorical &amp; Ordinal Features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535969" y="3378101"/>
            <a:ext cx="3119657" cy="2588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High-Cardinality (city)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Frequency-encoded based on training set density.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Ordinal Features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(education_level, experience, company_size, last_new_job): Custom low-to-high ordinal map.</a:t>
            </a:r>
            <a:endParaRPr lang="en-US" sz="1350" dirty="0"/>
          </a:p>
          <a:p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Nominal Features</a:t>
            </a:r>
            <a:pPr algn="l" marL="274320" indent="-274320">
              <a:lnSpc>
                <a:spcPct val="129000"/>
              </a:lnSpc>
              <a:buSzPct val="100000"/>
              <a:buChar char="•"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One-hot encoded with explicit missing categories.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964" y="2007890"/>
            <a:ext cx="3512157" cy="4154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41142" y="2123480"/>
            <a:ext cx="265800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2050" dirty="0"/>
          </a:p>
        </p:txBody>
      </p:sp>
      <p:sp>
        <p:nvSpPr>
          <p:cNvPr id="14" name="Text 9"/>
          <p:cNvSpPr/>
          <p:nvPr/>
        </p:nvSpPr>
        <p:spPr>
          <a:xfrm>
            <a:off x="8214214" y="2724646"/>
            <a:ext cx="3119657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Validation Setup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8214214" y="3101181"/>
            <a:ext cx="3119657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80/20 Stratified Train/Validation split + Independent Answer-Key Test evaluation.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951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Comparison &amp; Benchmarking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15765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Performance on Internal Validation vs. External Out-of-Sample Test</a:t>
            </a:r>
            <a:endParaRPr lang="en-US" sz="2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744192"/>
          <a:ext cx="9143771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2065062"/>
                <a:gridCol w="2065062"/>
                <a:gridCol w="2065062"/>
                <a:gridCol w="1956374"/>
              </a:tblGrid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Model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Val Accuracy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Val ROC-AUC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Accuracy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ROC-AUC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Logistic Regression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0.780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0.802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0.764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0.780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Random Forest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0.795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0.811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0.791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0.796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XGBoost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0.790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0.819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0.788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0.799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LightGBM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0.791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0.823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0.788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0.796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0F0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5419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CatBoost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0.785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0.821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0.784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0.801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7487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Critical Model Evaluation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4112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Linear Baseline vs. Gradient Boosted Ensembles</a:t>
            </a:r>
            <a:endParaRPr lang="en-US" sz="2950" dirty="0"/>
          </a:p>
        </p:txBody>
      </p:sp>
      <p:sp>
        <p:nvSpPr>
          <p:cNvPr id="4" name="Shape 2"/>
          <p:cNvSpPr/>
          <p:nvPr/>
        </p:nvSpPr>
        <p:spPr>
          <a:xfrm>
            <a:off x="525350" y="2797076"/>
            <a:ext cx="5476043" cy="2686050"/>
          </a:xfrm>
          <a:prstGeom prst="roundRect">
            <a:avLst>
              <a:gd name="adj" fmla="val 5067"/>
            </a:avLst>
          </a:prstGeom>
          <a:solidFill>
            <a:srgbClr val="F2F2F3"/>
          </a:solidFill>
          <a:ln/>
        </p:spPr>
      </p:sp>
      <p:sp>
        <p:nvSpPr>
          <p:cNvPr id="5" name="Text 3"/>
          <p:cNvSpPr/>
          <p:nvPr/>
        </p:nvSpPr>
        <p:spPr>
          <a:xfrm>
            <a:off x="714357" y="298608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Linear Model Failure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14357" y="3470374"/>
            <a:ext cx="5098029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Logistic Regression achieved only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0.33 Recall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on the test set.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i="1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Business Impact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Misses roughly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2/3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of all candidates who leave.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98608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Tree Ensemble Advantage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470374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Gradient Boosted Decision Trees (XGBoost, LightGBM, CatBoost) achieved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0.67 – 0.78 Recall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Small generalization gap (~0.015 - 0.027) confirms no severe overfitting.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CatBoost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emerged as the top performer with a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0.801 Test ROC-AUC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02965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Drivers &amp; Feature Importance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5233360" y="1815009"/>
            <a:ext cx="6296860" cy="841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Factors Predict Candidate Attrition?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5233360" y="2881412"/>
            <a:ext cx="6906444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Top Predictive Features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3304679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296412" y="3336181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5761985" y="3362523"/>
            <a:ext cx="576823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City Development Index (CDI)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5761985" y="3715445"/>
            <a:ext cx="5768235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Candidates from lower CDI areas are significantly more likely to look for new jobs.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33360" y="4524474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296412" y="4555976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5761985" y="4582319"/>
            <a:ext cx="576823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Company Size &amp; Type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761985" y="4935240"/>
            <a:ext cx="5768235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Employees from smaller organizations or unlisted types show higher mobility.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5489674"/>
            <a:ext cx="378708" cy="378718"/>
          </a:xfrm>
          <a:prstGeom prst="roundRect">
            <a:avLst>
              <a:gd name="adj" fmla="val 18670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96412" y="5521176"/>
            <a:ext cx="252505" cy="3156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5761985" y="5547519"/>
            <a:ext cx="576823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Total Experience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5761985" y="5900440"/>
            <a:ext cx="5768235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Career-stage determines willingness to move post-training.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001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Conclusions &amp; Recommendations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76264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Strategic Deployment &amp; Business Next Steps</a:t>
            </a:r>
            <a:endParaRPr lang="en-US" sz="2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32212"/>
            <a:ext cx="5339820" cy="24156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146623"/>
            <a:ext cx="48094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Primary Recommendation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555305"/>
            <a:ext cx="48094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Deploy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CatBoost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(or XGBoost as a strong alternative) to flag high-risk candidates at enrollment.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90301" y="2932212"/>
            <a:ext cx="5339919" cy="24156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06305" y="3146623"/>
            <a:ext cx="48095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Business Actions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506305" y="3555305"/>
            <a:ext cx="4809509" cy="1578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Targeted Retention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Offer early incentives or tailored career paths to high-risk candidates before training finishes.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Resource Allocation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: Prioritize training budgets for candidates predicted to stay.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695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Enhancements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24321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Roadmap for Model V2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199915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2295029"/>
            <a:ext cx="3053877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7" name="Text 4"/>
          <p:cNvSpPr/>
          <p:nvPr/>
        </p:nvSpPr>
        <p:spPr>
          <a:xfrm>
            <a:off x="661475" y="2440285"/>
            <a:ext cx="305387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Classification Threshold Tuning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61475" y="3144242"/>
            <a:ext cx="305387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Optimize the default 0.5 decision boundary according to actual business financial costs (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       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vs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        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).</a:t>
            </a:r>
            <a:endParaRPr lang="en-US" sz="14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4089598"/>
            <a:ext cx="1216193" cy="24695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366" y="4089598"/>
            <a:ext cx="1260146" cy="2469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04359" y="1999159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3904359" y="2295029"/>
            <a:ext cx="3053976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3" name="Text 8"/>
          <p:cNvSpPr/>
          <p:nvPr/>
        </p:nvSpPr>
        <p:spPr>
          <a:xfrm>
            <a:off x="3904359" y="2440285"/>
            <a:ext cx="305397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Hyperparameter Optimization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3904359" y="3144242"/>
            <a:ext cx="305397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Conduct grid/Bayesian search for CatBoost &amp; XGBoost.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61475" y="468461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61475" y="4980484"/>
            <a:ext cx="6296860" cy="2540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7" name="Text 12"/>
          <p:cNvSpPr/>
          <p:nvPr/>
        </p:nvSpPr>
        <p:spPr>
          <a:xfrm>
            <a:off x="661475" y="5125740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Explainability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661475" y="5534422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Integrate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SHAP (SHapley Additive exPlanations)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values for individual candidate risk profiling.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2026-09-08T17:28:00Z</dcterms:created>
  <dcterms:modified xsi:type="dcterms:W3CDTF">2026-09-08T17:28:00Z</dcterms:modified>
</cp:coreProperties>
</file>